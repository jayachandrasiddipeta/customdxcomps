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embeddedFontLst>
    <p:embeddedFont>
      <p:font typeface="Poppins" pitchFamily="2" charset="77"/>
      <p:regular r:id="rId14"/>
      <p:bold r:id="rId15"/>
      <p:boldItalic r:id="rId16"/>
    </p:embeddedFont>
  </p:embeddedFontLst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4" autoAdjust="0"/>
    <p:restoredTop sz="94600" autoAdjust="0"/>
  </p:normalViewPr>
  <p:slideViewPr>
    <p:cSldViewPr>
      <p:cViewPr varScale="1">
        <p:scale>
          <a:sx n="102" d="100"/>
          <a:sy n="102" d="100"/>
        </p:scale>
        <p:origin x="7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4134"/>
            </a:avLst>
          </a:prstGeom>
        </p:spPr>
      </p:pic>
      <p:sp>
        <p:nvSpPr>
          <p:cNvPr id="6" name="AutoShape 6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4134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82036" y="3107151"/>
            <a:ext cx="6363970" cy="151200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61" b="1" dirty="0">
                <a:solidFill>
                  <a:srgbClr val="0F174A"/>
                </a:solidFill>
                <a:latin typeface="Poppins"/>
              </a:rPr>
              <a:t>Pega Claims FNOL Application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870206" y="5177689"/>
            <a:ext cx="6363970" cy="37812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 dirty="0">
                <a:solidFill>
                  <a:srgbClr val="0F174A"/>
                </a:solidFill>
                <a:latin typeface="Poppins"/>
              </a:rPr>
              <a:t>First Notice of Loss | Production Release 1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870206" y="5878061"/>
            <a:ext cx="6363970" cy="47256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480" b="1" dirty="0">
                <a:solidFill>
                  <a:srgbClr val="0F174A"/>
                </a:solidFill>
                <a:latin typeface="Poppins"/>
              </a:rPr>
              <a:t>Project Trinity Team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36" y="1727262"/>
            <a:ext cx="14491784" cy="12096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68" b="1">
                <a:solidFill>
                  <a:srgbClr val="0F174A"/>
                </a:solidFill>
                <a:latin typeface="Poppins"/>
              </a:rPr>
              <a:t>Dual-Track Evolution: Connecting Customer Ease with Handler Intelligence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36" y="3220309"/>
            <a:ext cx="14491784" cy="419642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2036" y="3220309"/>
            <a:ext cx="7019095" cy="18714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882036" y="3220309"/>
            <a:ext cx="701909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Unified Release Scope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82036" y="3957352"/>
            <a:ext cx="7019095" cy="113437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Production Release 1 introduces a harmonized system architecture bridging external policyholders and internal operations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54726" y="3220309"/>
            <a:ext cx="7019095" cy="18714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354726" y="3220309"/>
            <a:ext cx="701909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Seamless Customer Journey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354726" y="3957352"/>
            <a:ext cx="7019095" cy="75624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Anonymous, web-based self-service portal allowing policyholders to submit claims without login friction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2036" y="5545325"/>
            <a:ext cx="7019095" cy="18714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882036" y="5545325"/>
            <a:ext cx="701909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AI-Augmented Operations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82036" y="6282368"/>
            <a:ext cx="7019095" cy="75624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Pega provides a semi-automated environment where AI handles image analysis and document extraction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54726" y="5545325"/>
            <a:ext cx="7019095" cy="18714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354726" y="5545325"/>
            <a:ext cx="701909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Strategic Handoff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354726" y="6282368"/>
            <a:ext cx="7019095" cy="113437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Robust manual integration point into Libra system ensuring investigative data is captured accurately and traceable</a:t>
            </a:r>
            <a:endParaRPr lang="en-US" sz="11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36" y="736800"/>
            <a:ext cx="14491784" cy="1173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849" b="1">
                <a:solidFill>
                  <a:srgbClr val="0F174A"/>
                </a:solidFill>
                <a:latin typeface="Poppins"/>
              </a:rPr>
              <a:t>The End-User Journey: A Four-Stage Path from Web to Confirmation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36" y="2176853"/>
            <a:ext cx="14491784" cy="623035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2036" y="3521373"/>
            <a:ext cx="3393722" cy="488582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2036" y="3521373"/>
            <a:ext cx="3393722" cy="4885829"/>
          </a:xfrm>
          <a:prstGeom prst="roundRect">
            <a:avLst>
              <a:gd name="adj" fmla="val 252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98" y="3521375"/>
            <a:ext cx="244422" cy="244422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2036" y="3521373"/>
            <a:ext cx="3393722" cy="244424"/>
          </a:xfrm>
          <a:prstGeom prst="roundRect">
            <a:avLst>
              <a:gd name="adj" fmla="val 50000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26458" y="4010224"/>
            <a:ext cx="2904875" cy="87997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87" b="1">
                <a:solidFill>
                  <a:srgbClr val="0F174A"/>
                </a:solidFill>
                <a:latin typeface="Poppins"/>
              </a:rPr>
              <a:t>Stage 1 — Digital Entry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26458" y="5156870"/>
            <a:ext cx="2904875" cy="293261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24" b="1">
                <a:solidFill>
                  <a:srgbClr val="05103F"/>
                </a:solidFill>
                <a:latin typeface="Poppins"/>
              </a:rPr>
              <a:t>Users start at talktotrinity.com and select 'Make a claim', redirecting to Pega Constellation self-service portal with anonymous DX web form access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1310" y="3154675"/>
            <a:ext cx="3393831" cy="52525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81310" y="3154675"/>
            <a:ext cx="3393831" cy="5252522"/>
          </a:xfrm>
          <a:prstGeom prst="roundRect">
            <a:avLst>
              <a:gd name="adj" fmla="val 252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380" y="3185183"/>
            <a:ext cx="183409" cy="183409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581310" y="3154675"/>
            <a:ext cx="3393831" cy="244424"/>
          </a:xfrm>
          <a:prstGeom prst="roundRect">
            <a:avLst>
              <a:gd name="adj" fmla="val 50000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4825733" y="3643525"/>
            <a:ext cx="2905000" cy="131996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87" b="1">
                <a:solidFill>
                  <a:srgbClr val="0F174A"/>
                </a:solidFill>
                <a:latin typeface="Poppins"/>
              </a:rPr>
              <a:t>Stage 2 — Structured Intake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825733" y="5230161"/>
            <a:ext cx="2905000" cy="293261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24" b="1">
                <a:solidFill>
                  <a:srgbClr val="05103F"/>
                </a:solidFill>
                <a:latin typeface="Poppins"/>
              </a:rPr>
              <a:t>4-stage form flow — 'Your details' for identification, 'What happened' for incident context, 'Items affected' for loss assessment, 'Evidence' for documentation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80706" y="2787977"/>
            <a:ext cx="3393722" cy="561923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80706" y="2787977"/>
            <a:ext cx="3393722" cy="5619231"/>
          </a:xfrm>
          <a:prstGeom prst="roundRect">
            <a:avLst>
              <a:gd name="adj" fmla="val 252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269" y="2787978"/>
            <a:ext cx="244422" cy="244422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280706" y="2787977"/>
            <a:ext cx="3393722" cy="244424"/>
          </a:xfrm>
          <a:prstGeom prst="roundRect">
            <a:avLst>
              <a:gd name="adj" fmla="val 50000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525129" y="3276827"/>
            <a:ext cx="2904875" cy="131996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87" b="1">
                <a:solidFill>
                  <a:srgbClr val="0F174A"/>
                </a:solidFill>
                <a:latin typeface="Poppins"/>
              </a:rPr>
              <a:t>Stage 3 — Validation &amp; Submission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525129" y="4863463"/>
            <a:ext cx="2904875" cy="183287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24" b="1">
                <a:solidFill>
                  <a:srgbClr val="05103F"/>
                </a:solidFill>
                <a:latin typeface="Poppins"/>
              </a:rPr>
              <a:t>Review screen allows edits before submit, automated duplicate check ensures data integrity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979981" y="2421278"/>
            <a:ext cx="3393831" cy="598592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1979981" y="2421278"/>
            <a:ext cx="3393831" cy="5985925"/>
          </a:xfrm>
          <a:prstGeom prst="roundRect">
            <a:avLst>
              <a:gd name="adj" fmla="val 252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0857" y="2436533"/>
            <a:ext cx="213915" cy="213915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1979981" y="2421278"/>
            <a:ext cx="3393831" cy="244424"/>
          </a:xfrm>
          <a:prstGeom prst="roundRect">
            <a:avLst>
              <a:gd name="adj" fmla="val 50000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12224403" y="2910129"/>
            <a:ext cx="2905000" cy="131996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87" b="1">
                <a:solidFill>
                  <a:srgbClr val="0F174A"/>
                </a:solidFill>
                <a:latin typeface="Poppins"/>
              </a:rPr>
              <a:t>Stage 4 — Instant Resolution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2224403" y="4496764"/>
            <a:ext cx="2905000" cy="183287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24" b="1">
                <a:solidFill>
                  <a:srgbClr val="05103F"/>
                </a:solidFill>
                <a:latin typeface="Poppins"/>
              </a:rPr>
              <a:t>Immediate claim reference number on-screen plus confirmation email for peace of mind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3175" y="3276952"/>
            <a:ext cx="733388" cy="733388"/>
          </a:xfrm>
          <a:prstGeom prst="roundRect">
            <a:avLst>
              <a:gd name="adj" fmla="val 4999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4532450" y="2910254"/>
            <a:ext cx="733388" cy="733388"/>
          </a:xfrm>
          <a:prstGeom prst="roundRect">
            <a:avLst>
              <a:gd name="adj" fmla="val 4999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231846" y="2543556"/>
            <a:ext cx="733388" cy="733388"/>
          </a:xfrm>
          <a:prstGeom prst="roundRect">
            <a:avLst>
              <a:gd name="adj" fmla="val 4999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1931121" y="2176857"/>
            <a:ext cx="733388" cy="733388"/>
          </a:xfrm>
          <a:prstGeom prst="roundRect">
            <a:avLst>
              <a:gd name="adj" fmla="val 4999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" r="2"/>
          <a:stretch>
            <a:fillRect/>
          </a:stretch>
        </p:blipFill>
        <p:spPr>
          <a:xfrm>
            <a:off x="0" y="0"/>
            <a:ext cx="5143331" cy="9144000"/>
          </a:xfrm>
          <a:prstGeom prst="roundRect">
            <a:avLst>
              <a:gd name="adj" fmla="val 7203"/>
            </a:avLst>
          </a:prstGeom>
        </p:spPr>
      </p:pic>
      <p:sp>
        <p:nvSpPr>
          <p:cNvPr id="6" name="TextBox 6"/>
          <p:cNvSpPr txBox="1"/>
          <p:nvPr/>
        </p:nvSpPr>
        <p:spPr>
          <a:xfrm>
            <a:off x="6025359" y="767915"/>
            <a:ext cx="9348452" cy="118529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889" b="1">
                <a:solidFill>
                  <a:srgbClr val="0F174A"/>
                </a:solidFill>
                <a:latin typeface="Poppins"/>
              </a:rPr>
              <a:t>Optimizing Accessibility: Key Features for the Modern Policyholder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25359" y="2225471"/>
            <a:ext cx="9348452" cy="615061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025359" y="2225471"/>
            <a:ext cx="4550684" cy="2766583"/>
          </a:xfrm>
          <a:prstGeom prst="roundRect">
            <a:avLst>
              <a:gd name="adj" fmla="val 17855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6272334" y="2472449"/>
            <a:ext cx="4056735" cy="88897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17" b="1">
                <a:solidFill>
                  <a:srgbClr val="0F174A"/>
                </a:solidFill>
                <a:latin typeface="Poppins"/>
              </a:rPr>
              <a:t>Frictionless Anonymous Access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272334" y="3633680"/>
            <a:ext cx="4056735" cy="111139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44" b="1">
                <a:solidFill>
                  <a:srgbClr val="05103F"/>
                </a:solidFill>
                <a:latin typeface="Poppins"/>
              </a:rPr>
              <a:t>No login required maximizes participation and speed for immediate loss reporting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823016" y="2225471"/>
            <a:ext cx="4550809" cy="2766583"/>
          </a:xfrm>
          <a:prstGeom prst="roundRect">
            <a:avLst>
              <a:gd name="adj" fmla="val 17855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1069990" y="2472449"/>
            <a:ext cx="4303821" cy="88897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17" b="1" dirty="0">
                <a:solidFill>
                  <a:srgbClr val="0F174A"/>
                </a:solidFill>
                <a:latin typeface="Poppins"/>
              </a:rPr>
              <a:t>Authorized Submission Flexibility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11069990" y="3633680"/>
            <a:ext cx="4056859" cy="111139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44" b="1">
                <a:solidFill>
                  <a:srgbClr val="05103F"/>
                </a:solidFill>
                <a:latin typeface="Poppins"/>
              </a:rPr>
              <a:t>Supports submissions by authorized representatives on behalf of policyholders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25359" y="5239034"/>
            <a:ext cx="4550684" cy="3137057"/>
          </a:xfrm>
          <a:prstGeom prst="roundRect">
            <a:avLst>
              <a:gd name="adj" fmla="val 15746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6272334" y="5486011"/>
            <a:ext cx="4056735" cy="88897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17" b="1">
                <a:solidFill>
                  <a:srgbClr val="0F174A"/>
                </a:solidFill>
                <a:latin typeface="Poppins"/>
              </a:rPr>
              <a:t>Intelligent Evidence Handling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272334" y="6647243"/>
            <a:ext cx="4056735" cy="148186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44" b="1">
                <a:solidFill>
                  <a:srgbClr val="05103F"/>
                </a:solidFill>
                <a:latin typeface="Poppins"/>
              </a:rPr>
              <a:t>At least one affected item required but evidence uploads optional to prevent technical hurdles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823016" y="5239034"/>
            <a:ext cx="4550809" cy="3137057"/>
          </a:xfrm>
          <a:prstGeom prst="roundRect">
            <a:avLst>
              <a:gd name="adj" fmla="val 15746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1069990" y="5486011"/>
            <a:ext cx="4056859" cy="88897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17" b="1">
                <a:solidFill>
                  <a:srgbClr val="0F174A"/>
                </a:solidFill>
                <a:latin typeface="Poppins"/>
              </a:rPr>
              <a:t>Proactive Duplicate Detection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069990" y="6647243"/>
            <a:ext cx="4056859" cy="148186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44" b="1">
                <a:solidFill>
                  <a:srgbClr val="05103F"/>
                </a:solidFill>
                <a:latin typeface="Poppins"/>
              </a:rPr>
              <a:t>System identifies potential duplicates and provides guidance to contact claims team</a:t>
            </a:r>
            <a:endParaRPr lang="en-US" sz="11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36" y="719541"/>
            <a:ext cx="14491784" cy="104041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13" b="1">
                <a:solidFill>
                  <a:srgbClr val="0F174A"/>
                </a:solidFill>
                <a:latin typeface="Poppins"/>
              </a:rPr>
              <a:t>The Handler Workflow: A Connected Chain of AI-Driven Enrichment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36" y="1969621"/>
            <a:ext cx="14491784" cy="645472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2036" y="1969621"/>
            <a:ext cx="3622946" cy="645472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2036" y="1969621"/>
            <a:ext cx="3622946" cy="362298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642461" y="3618609"/>
            <a:ext cx="270933" cy="32500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33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90330" y="5809318"/>
            <a:ext cx="3406355" cy="780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560" b="1">
                <a:solidFill>
                  <a:srgbClr val="0F174A"/>
                </a:solidFill>
                <a:latin typeface="Poppins"/>
              </a:rPr>
              <a:t>Automated Case Creation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90330" y="6799294"/>
            <a:ext cx="3406355" cy="130003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6" b="1">
                <a:solidFill>
                  <a:srgbClr val="05103F"/>
                </a:solidFill>
                <a:latin typeface="Poppins"/>
              </a:rPr>
              <a:t>Case generated in Pega, automated email with claim details and evidence sent to hello@talktotrinity.com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4981" y="1969621"/>
            <a:ext cx="3622946" cy="645472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04981" y="1969621"/>
            <a:ext cx="3622946" cy="362298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6239031" y="3618609"/>
            <a:ext cx="270933" cy="32500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33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613276" y="5809318"/>
            <a:ext cx="3406355" cy="780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560" b="1">
                <a:solidFill>
                  <a:srgbClr val="0F174A"/>
                </a:solidFill>
                <a:latin typeface="Poppins"/>
              </a:rPr>
              <a:t>Rapid Image Analysis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613276" y="6799294"/>
            <a:ext cx="3406355" cy="162504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6" b="1">
                <a:solidFill>
                  <a:srgbClr val="05103F"/>
                </a:solidFill>
                <a:latin typeface="Poppins"/>
              </a:rPr>
              <a:t>AI performs background analysis on uploaded photos (5-10 seconds) to identify damage patterns and enrich the case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7927" y="1969621"/>
            <a:ext cx="3622946" cy="645472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27927" y="1969621"/>
            <a:ext cx="3622946" cy="362298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857359" y="3618609"/>
            <a:ext cx="270933" cy="32500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33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236222" y="5809318"/>
            <a:ext cx="3406355" cy="780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560" b="1">
                <a:solidFill>
                  <a:srgbClr val="0F174A"/>
                </a:solidFill>
                <a:latin typeface="Poppins"/>
              </a:rPr>
              <a:t>Policy Schedule Retrieval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236222" y="6799294"/>
            <a:ext cx="3406355" cy="162504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6" b="1">
                <a:solidFill>
                  <a:srgbClr val="05103F"/>
                </a:solidFill>
                <a:latin typeface="Poppins"/>
              </a:rPr>
              <a:t>Within 2-3 hours, system receives policy schedule email, Pega parses and AI extracts core policy data auto-populating the case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750873" y="1969621"/>
            <a:ext cx="3622946" cy="645472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1750873" y="1969621"/>
            <a:ext cx="3622946" cy="362298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873" y="1971088"/>
            <a:ext cx="4202586" cy="3620049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470581" y="3618609"/>
            <a:ext cx="270933" cy="32500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33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859167" y="5809318"/>
            <a:ext cx="3406355" cy="780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560" b="1">
                <a:solidFill>
                  <a:srgbClr val="0F174A"/>
                </a:solidFill>
                <a:latin typeface="Poppins"/>
              </a:rPr>
              <a:t>Manual System Bridge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859167" y="6799294"/>
            <a:ext cx="3406355" cy="130003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6" b="1">
                <a:solidFill>
                  <a:srgbClr val="05103F"/>
                </a:solidFill>
                <a:latin typeface="Poppins"/>
              </a:rPr>
              <a:t>At Investigation stage, handler manually creates entry in Libra and links unique Libra ID via local action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27" y="1971088"/>
            <a:ext cx="4202586" cy="3620049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4981" y="1971088"/>
            <a:ext cx="4202586" cy="3620049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36" y="1971088"/>
            <a:ext cx="4202586" cy="362004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36" y="1107388"/>
            <a:ext cx="14491784" cy="12096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68" b="1">
                <a:solidFill>
                  <a:srgbClr val="0F174A"/>
                </a:solidFill>
                <a:latin typeface="Poppins"/>
              </a:rPr>
              <a:t>Empowering Productivity: Specialized Tools for the Modern Claim Handler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36" y="2600434"/>
            <a:ext cx="1449178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2036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2036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182" y="2600445"/>
            <a:ext cx="1964255" cy="1964255"/>
          </a:xfrm>
          <a:prstGeom prst="roundRect">
            <a:avLst>
              <a:gd name="adj" fmla="val 50000"/>
            </a:avLst>
          </a:prstGeom>
        </p:spPr>
      </p:pic>
      <p:sp>
        <p:nvSpPr>
          <p:cNvPr id="10" name="AutoShape 10"/>
          <p:cNvSpPr/>
          <p:nvPr/>
        </p:nvSpPr>
        <p:spPr>
          <a:xfrm>
            <a:off x="882036" y="4879749"/>
            <a:ext cx="3386674" cy="31567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82036" y="4879749"/>
            <a:ext cx="3386674" cy="9072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Structured 360-Degree View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82036" y="6070395"/>
            <a:ext cx="3386674" cy="18906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Dedicated tabs for personal details, claim specifics, and attachments always one click away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3741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83741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888" y="2600445"/>
            <a:ext cx="1964255" cy="1964255"/>
          </a:xfrm>
          <a:prstGeom prst="roundRect">
            <a:avLst>
              <a:gd name="adj" fmla="val 50000"/>
            </a:avLst>
          </a:prstGeom>
        </p:spPr>
      </p:pic>
      <p:sp>
        <p:nvSpPr>
          <p:cNvPr id="16" name="AutoShape 16"/>
          <p:cNvSpPr/>
          <p:nvPr/>
        </p:nvSpPr>
        <p:spPr>
          <a:xfrm>
            <a:off x="4583741" y="4879749"/>
            <a:ext cx="3386674" cy="31567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4583741" y="4879749"/>
            <a:ext cx="3386674" cy="136080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Comprehensive Document Management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583741" y="6523997"/>
            <a:ext cx="3386674" cy="15124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Attachments gallery allows viewing and downloading all evidence within the case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85446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85446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593" y="2600445"/>
            <a:ext cx="1964255" cy="1964255"/>
          </a:xfrm>
          <a:prstGeom prst="roundRect">
            <a:avLst>
              <a:gd name="adj" fmla="val 50000"/>
            </a:avLst>
          </a:prstGeom>
        </p:spPr>
      </p:pic>
      <p:sp>
        <p:nvSpPr>
          <p:cNvPr id="22" name="AutoShape 22"/>
          <p:cNvSpPr/>
          <p:nvPr/>
        </p:nvSpPr>
        <p:spPr>
          <a:xfrm>
            <a:off x="8285446" y="4879749"/>
            <a:ext cx="3386674" cy="31567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285446" y="4879749"/>
            <a:ext cx="3386674" cy="9072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Robust Audit Integrity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285446" y="6070395"/>
            <a:ext cx="3386674" cy="15124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Full audit trail of all inbound/outbound emails and attachments for compliance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987152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1987152" y="2600434"/>
            <a:ext cx="3386674" cy="54360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98298" y="2600445"/>
            <a:ext cx="1964255" cy="1964255"/>
          </a:xfrm>
          <a:prstGeom prst="roundRect">
            <a:avLst>
              <a:gd name="adj" fmla="val 50000"/>
            </a:avLst>
          </a:prstGeom>
        </p:spPr>
      </p:pic>
      <p:sp>
        <p:nvSpPr>
          <p:cNvPr id="28" name="AutoShape 28"/>
          <p:cNvSpPr/>
          <p:nvPr/>
        </p:nvSpPr>
        <p:spPr>
          <a:xfrm>
            <a:off x="11987152" y="4879749"/>
            <a:ext cx="3386674" cy="31567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11987152" y="4879749"/>
            <a:ext cx="3386674" cy="9072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AI-Enhanced Data Extraction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1987152" y="6070395"/>
            <a:ext cx="3386674" cy="15124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Automated extraction from policy schedules and damaged-item photos reducing manual work</a:t>
            </a:r>
            <a:endParaRPr lang="en-US" sz="11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" r="2"/>
          <a:stretch>
            <a:fillRect/>
          </a:stretch>
        </p:blipFill>
        <p:spPr>
          <a:xfrm>
            <a:off x="11112530" y="0"/>
            <a:ext cx="5143331" cy="9144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82036" y="723065"/>
            <a:ext cx="9348452" cy="110070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611" b="1">
                <a:solidFill>
                  <a:srgbClr val="0F174A"/>
                </a:solidFill>
                <a:latin typeface="Poppins"/>
              </a:rPr>
              <a:t>AI Capabilities Spotlight: Driving Efficiency through Intelligence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2036" y="2058470"/>
            <a:ext cx="9348452" cy="636246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2036" y="2058470"/>
            <a:ext cx="4530864" cy="2894576"/>
          </a:xfrm>
          <a:prstGeom prst="roundRect">
            <a:avLst>
              <a:gd name="adj" fmla="val 5447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55110" y="2287702"/>
            <a:ext cx="3728565" cy="82552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8" b="1">
                <a:solidFill>
                  <a:srgbClr val="0F174A"/>
                </a:solidFill>
                <a:latin typeface="Poppins"/>
              </a:rPr>
              <a:t>Intelligent Image Inspection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455110" y="3347930"/>
            <a:ext cx="3728565" cy="13758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5" b="1">
                <a:solidFill>
                  <a:srgbClr val="05103F"/>
                </a:solidFill>
                <a:latin typeface="Poppins"/>
              </a:rPr>
              <a:t>Advanced vision AI processes damaged-item photos for preliminary assessment, accelerating verification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99503" y="2058470"/>
            <a:ext cx="4530989" cy="2894576"/>
          </a:xfrm>
          <a:prstGeom prst="roundRect">
            <a:avLst>
              <a:gd name="adj" fmla="val 5447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272577" y="2287702"/>
            <a:ext cx="3728690" cy="82552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8" b="1">
                <a:solidFill>
                  <a:srgbClr val="0F174A"/>
                </a:solidFill>
                <a:latin typeface="Poppins"/>
              </a:rPr>
              <a:t>Automated Document Parsing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272577" y="3347930"/>
            <a:ext cx="3728690" cy="13758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5" b="1">
                <a:solidFill>
                  <a:srgbClr val="05103F"/>
                </a:solidFill>
                <a:latin typeface="Poppins"/>
              </a:rPr>
              <a:t>NLP extracts and populates key data fields from policy schedule attachments with high accuracy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2036" y="5526364"/>
            <a:ext cx="4530864" cy="2894576"/>
          </a:xfrm>
          <a:prstGeom prst="roundRect">
            <a:avLst>
              <a:gd name="adj" fmla="val 5447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455110" y="5755596"/>
            <a:ext cx="3728565" cy="82552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8" b="1">
                <a:solidFill>
                  <a:srgbClr val="0F174A"/>
                </a:solidFill>
                <a:latin typeface="Poppins"/>
              </a:rPr>
              <a:t>Drastic Reduction in Manual Labor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455110" y="6815824"/>
            <a:ext cx="3728565" cy="13758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5" b="1">
                <a:solidFill>
                  <a:srgbClr val="05103F"/>
                </a:solidFill>
                <a:latin typeface="Poppins"/>
              </a:rPr>
              <a:t>AI touchpoints eliminate re-keying and photo categorization, freeing handlers for complex tasks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99503" y="5526364"/>
            <a:ext cx="4530989" cy="2894576"/>
          </a:xfrm>
          <a:prstGeom prst="roundRect">
            <a:avLst>
              <a:gd name="adj" fmla="val 5447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6272577" y="5755596"/>
            <a:ext cx="3728690" cy="82552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8" b="1">
                <a:solidFill>
                  <a:srgbClr val="0F174A"/>
                </a:solidFill>
                <a:latin typeface="Poppins"/>
              </a:rPr>
              <a:t>Outcome-Focused Speed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272577" y="6815824"/>
            <a:ext cx="3728690" cy="13758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805" b="1" dirty="0">
                <a:solidFill>
                  <a:srgbClr val="05103F"/>
                </a:solidFill>
                <a:latin typeface="Poppins"/>
              </a:rPr>
              <a:t>Background processes occur in 5-10 seconds so handlers see pre-populated insights when opening cases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36" y="730115"/>
            <a:ext cx="14491784" cy="50197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94" b="1">
                <a:solidFill>
                  <a:srgbClr val="0F174A"/>
                </a:solidFill>
                <a:latin typeface="Poppins"/>
              </a:rPr>
              <a:t>Transparency in Transition: Defining the Current Manual Scope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36" y="1427413"/>
            <a:ext cx="14491784" cy="319295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2036" y="1427413"/>
            <a:ext cx="7141236" cy="1648751"/>
          </a:xfrm>
          <a:prstGeom prst="roundRect">
            <a:avLst>
              <a:gd name="adj" fmla="val 87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106768" y="1652148"/>
            <a:ext cx="6691781" cy="37654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70" b="1">
                <a:solidFill>
                  <a:srgbClr val="0F174A"/>
                </a:solidFill>
                <a:latin typeface="Poppins"/>
              </a:rPr>
              <a:t>Investigation Initiation (Manual Creation)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06768" y="2224013"/>
            <a:ext cx="6691781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Handlers manually initiate the case in Libra to ensure data validation during transition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32454" y="1427413"/>
            <a:ext cx="7141361" cy="1648751"/>
          </a:xfrm>
          <a:prstGeom prst="roundRect">
            <a:avLst>
              <a:gd name="adj" fmla="val 87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457186" y="1652148"/>
            <a:ext cx="6691906" cy="37654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70" b="1">
                <a:solidFill>
                  <a:srgbClr val="0F174A"/>
                </a:solidFill>
                <a:latin typeface="Poppins"/>
              </a:rPr>
              <a:t>System Linking (Local Action)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457186" y="2224013"/>
            <a:ext cx="6691906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Linking Libra ID via dedicated UI action ensures clean data bridge without complex API sync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2036" y="3285335"/>
            <a:ext cx="14491784" cy="1335040"/>
          </a:xfrm>
          <a:prstGeom prst="roundRect">
            <a:avLst>
              <a:gd name="adj" fmla="val 10772"/>
            </a:avLst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106768" y="3510070"/>
            <a:ext cx="14042312" cy="37654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70" b="1">
                <a:solidFill>
                  <a:srgbClr val="0F174A"/>
                </a:solidFill>
                <a:latin typeface="Poppins"/>
              </a:rPr>
              <a:t>Scope Framing (Release Design)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06768" y="4081934"/>
            <a:ext cx="14042312" cy="3137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These manual steps are intentional for stability while preparing infrastructure for future automation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2036" y="4815696"/>
            <a:ext cx="14491784" cy="277545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814" y="4823475"/>
            <a:ext cx="3176026" cy="454697"/>
          </a:xfrm>
          <a:prstGeom prst="rect">
            <a:avLst/>
          </a:prstGeom>
          <a:solidFill>
            <a:srgbClr val="FFCD91"/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960309" y="4893970"/>
            <a:ext cx="3035045" cy="3137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Operation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065847" y="4823475"/>
            <a:ext cx="6587250" cy="454697"/>
          </a:xfrm>
          <a:prstGeom prst="rect">
            <a:avLst/>
          </a:prstGeom>
          <a:solidFill>
            <a:srgbClr val="FFCD91"/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4136342" y="4893970"/>
            <a:ext cx="6446269" cy="3137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Execution Mode in Release 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653099" y="4823475"/>
            <a:ext cx="4712949" cy="454697"/>
          </a:xfrm>
          <a:prstGeom prst="rect">
            <a:avLst/>
          </a:prstGeom>
          <a:solidFill>
            <a:srgbClr val="FFCD91"/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723594" y="4893970"/>
            <a:ext cx="4571951" cy="3137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Strategic Rationale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814" y="5278171"/>
            <a:ext cx="3176026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960309" y="5348666"/>
            <a:ext cx="3035045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Investigation Initiation (Manual Creation)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065847" y="5278171"/>
            <a:ext cx="6587250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4136342" y="5348666"/>
            <a:ext cx="6446269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Handlers manually initiate the case in Libra to ensure data validation during transition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653099" y="5278171"/>
            <a:ext cx="4712949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10723594" y="5348666"/>
            <a:ext cx="4571951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Ensures data quality and validation during the transition period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9814" y="6046572"/>
            <a:ext cx="3176026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960309" y="6117068"/>
            <a:ext cx="3035045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System Linking (Local Action)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065847" y="6046572"/>
            <a:ext cx="6587250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4136342" y="6117068"/>
            <a:ext cx="6446269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Linking Libra ID via dedicated UI action ensures clean data bridge without complex API sync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653099" y="6046572"/>
            <a:ext cx="4712949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10723594" y="6117068"/>
            <a:ext cx="4571951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Maintains clean data bridge without complex API synchronization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89814" y="6814973"/>
            <a:ext cx="3176026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960309" y="6885469"/>
            <a:ext cx="3035045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Scope Framing (Release Design)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065847" y="6814973"/>
            <a:ext cx="6587250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4136342" y="6885469"/>
            <a:ext cx="6446269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These manual steps are intentional for stability while preparing infrastructure for future automation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0653099" y="6814973"/>
            <a:ext cx="4712949" cy="76840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10723594" y="6885469"/>
            <a:ext cx="4571951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Intentional design for stability and future automation readiness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882036" y="7786475"/>
            <a:ext cx="14491784" cy="6274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47" b="1">
                <a:solidFill>
                  <a:srgbClr val="05103F"/>
                </a:solidFill>
                <a:latin typeface="Poppins"/>
              </a:rPr>
              <a:t>Key Takeaway: This intentional manual handoff ensures high data quality and system stability during initial production rollout while defining boundaries for future automation phases.</a:t>
            </a:r>
            <a:endParaRPr lang="en-US" sz="11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36" y="819936"/>
            <a:ext cx="14491784" cy="12096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68" b="1">
                <a:solidFill>
                  <a:srgbClr val="0F174A"/>
                </a:solidFill>
                <a:latin typeface="Poppins"/>
              </a:rPr>
              <a:t>The Technical Ecosystem: A Unified Map of System Interactions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36" y="2312983"/>
            <a:ext cx="14491784" cy="601095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2036" y="2312983"/>
            <a:ext cx="4678427" cy="2753452"/>
          </a:xfrm>
          <a:prstGeom prst="roundRect">
            <a:avLst>
              <a:gd name="adj" fmla="val 6292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133994" y="2564944"/>
            <a:ext cx="417450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talktotrinity.com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33994" y="3301986"/>
            <a:ext cx="4174505" cy="15124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Public-facing gateway with 'Make a claim' entry point and seamless redirect to secure portal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16453" y="3506929"/>
            <a:ext cx="3804093" cy="3622946"/>
          </a:xfrm>
          <a:prstGeom prst="roundRect">
            <a:avLst>
              <a:gd name="adj" fmla="val 50000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6316454" y="4864800"/>
            <a:ext cx="3804093" cy="9072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 dirty="0">
                <a:solidFill>
                  <a:srgbClr val="0F174A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Pega Constellation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695396" y="2312983"/>
            <a:ext cx="4678427" cy="2753452"/>
          </a:xfrm>
          <a:prstGeom prst="roundRect">
            <a:avLst>
              <a:gd name="adj" fmla="val 6292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947354" y="2564944"/>
            <a:ext cx="417450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Trinity Email System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47354" y="3301986"/>
            <a:ext cx="4174505" cy="15124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Communication backbone handling inbound policy schedules and outbound confirmation emails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95396" y="5570484"/>
            <a:ext cx="4678427" cy="2753452"/>
          </a:xfrm>
          <a:prstGeom prst="roundRect">
            <a:avLst>
              <a:gd name="adj" fmla="val 6292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947354" y="5822445"/>
            <a:ext cx="417450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AI Analysis Engines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47354" y="6559488"/>
            <a:ext cx="4174505" cy="15124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Distributed services for image recognition and document extraction feeding enriched data back to Pega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2036" y="5570484"/>
            <a:ext cx="4678427" cy="2753452"/>
          </a:xfrm>
          <a:prstGeom prst="roundRect">
            <a:avLst>
              <a:gd name="adj" fmla="val 6292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133994" y="5822445"/>
            <a:ext cx="4174505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Libra Investigation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3994" y="6559488"/>
            <a:ext cx="4174505" cy="15124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Downstream system of record for deep investigation, connected via manual ID-linking process</a:t>
            </a:r>
            <a:endParaRPr lang="en-US" sz="11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36" y="717717"/>
            <a:ext cx="14491784" cy="48982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14" b="1" dirty="0">
                <a:solidFill>
                  <a:srgbClr val="0F174A"/>
                </a:solidFill>
                <a:latin typeface="Poppins"/>
              </a:rPr>
              <a:t>Business Value: Quantifying the Impact of Production MVP 1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882036" y="1393502"/>
            <a:ext cx="14491784" cy="703265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2036" y="1393502"/>
            <a:ext cx="8695163" cy="1605112"/>
          </a:xfrm>
          <a:prstGeom prst="roundRect">
            <a:avLst>
              <a:gd name="adj" fmla="val 8743"/>
            </a:avLst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97593" y="1409060"/>
            <a:ext cx="1224787" cy="1573997"/>
          </a:xfrm>
          <a:prstGeom prst="roundRect">
            <a:avLst>
              <a:gd name="adj" fmla="val 1145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61916" y="2042912"/>
            <a:ext cx="255181" cy="30629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9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379" y="2100373"/>
            <a:ext cx="127498" cy="191247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658018" y="1613132"/>
            <a:ext cx="6699560" cy="3673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11" b="1">
                <a:solidFill>
                  <a:srgbClr val="0F174A"/>
                </a:solidFill>
                <a:latin typeface="Poppins"/>
              </a:rPr>
              <a:t>Accelerated Intake Velocity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2658018" y="2166401"/>
            <a:ext cx="6699560" cy="61258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7" b="1">
                <a:solidFill>
                  <a:srgbClr val="05103F"/>
                </a:solidFill>
                <a:latin typeface="Poppins"/>
              </a:rPr>
              <a:t>24/7 self-service portal with anonymous access eliminates phone queues and enables complete claim submissions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2475511" y="4726118"/>
            <a:ext cx="3043225" cy="3673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11" b="1">
                <a:solidFill>
                  <a:srgbClr val="0F174A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Core Value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1543" y="1393502"/>
            <a:ext cx="5787940" cy="7032658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036" y="3202685"/>
            <a:ext cx="8695163" cy="1605112"/>
          </a:xfrm>
          <a:prstGeom prst="roundRect">
            <a:avLst>
              <a:gd name="adj" fmla="val 8743"/>
            </a:avLst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97593" y="3218243"/>
            <a:ext cx="1224787" cy="1573997"/>
          </a:xfrm>
          <a:prstGeom prst="roundRect">
            <a:avLst>
              <a:gd name="adj" fmla="val 1145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437121" y="3852095"/>
            <a:ext cx="255181" cy="30629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9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379" y="3909556"/>
            <a:ext cx="127498" cy="191247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658018" y="3422315"/>
            <a:ext cx="6699560" cy="3673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11" b="1">
                <a:solidFill>
                  <a:srgbClr val="0F174A"/>
                </a:solidFill>
                <a:latin typeface="Poppins"/>
              </a:rPr>
              <a:t>Operational Efficiency Gains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658018" y="3975583"/>
            <a:ext cx="6699560" cy="61258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7" b="1">
                <a:solidFill>
                  <a:srgbClr val="05103F"/>
                </a:solidFill>
                <a:latin typeface="Poppins"/>
              </a:rPr>
              <a:t>AI-assisted enrichment and automated data extraction reduce average handling time per case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1543" y="1393502"/>
            <a:ext cx="5787940" cy="7032658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2036" y="5011868"/>
            <a:ext cx="8695163" cy="1605112"/>
          </a:xfrm>
          <a:prstGeom prst="roundRect">
            <a:avLst>
              <a:gd name="adj" fmla="val 8743"/>
            </a:avLst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97593" y="5027425"/>
            <a:ext cx="1224787" cy="1573997"/>
          </a:xfrm>
          <a:prstGeom prst="roundRect">
            <a:avLst>
              <a:gd name="adj" fmla="val 1145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432746" y="5661278"/>
            <a:ext cx="255181" cy="30629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9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379" y="5718739"/>
            <a:ext cx="127498" cy="191247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2658018" y="5231498"/>
            <a:ext cx="6699560" cy="3673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11" b="1">
                <a:solidFill>
                  <a:srgbClr val="0F174A"/>
                </a:solidFill>
                <a:latin typeface="Poppins"/>
              </a:rPr>
              <a:t>Enhanced Data Integrity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2658018" y="5784766"/>
            <a:ext cx="6699560" cy="61258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7" b="1">
                <a:solidFill>
                  <a:srgbClr val="05103F"/>
                </a:solidFill>
                <a:latin typeface="Poppins"/>
              </a:rPr>
              <a:t>Automated duplicate detection and structured form validation ensure clean, relevant data reaching investigation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1543" y="1393502"/>
            <a:ext cx="5787940" cy="7032658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82036" y="6821051"/>
            <a:ext cx="8695163" cy="1605112"/>
          </a:xfrm>
          <a:prstGeom prst="roundRect">
            <a:avLst>
              <a:gd name="adj" fmla="val 8743"/>
            </a:avLst>
          </a:prstGeom>
          <a:solidFill>
            <a:srgbClr val="000000">
              <a:alpha val="0"/>
            </a:srgbClr>
          </a:solidFill>
          <a:ln w="12700">
            <a:solidFill>
              <a:srgbClr val="F5CDA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97593" y="6836608"/>
            <a:ext cx="1224787" cy="1573997"/>
          </a:xfrm>
          <a:prstGeom prst="roundRect">
            <a:avLst>
              <a:gd name="adj" fmla="val 11459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423508" y="7470460"/>
            <a:ext cx="255181" cy="30629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9" b="1">
                <a:solidFill>
                  <a:srgbClr val="734C0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379" y="7527921"/>
            <a:ext cx="127498" cy="191247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2658018" y="7040681"/>
            <a:ext cx="6699560" cy="3673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11" b="1">
                <a:solidFill>
                  <a:srgbClr val="0F174A"/>
                </a:solidFill>
                <a:latin typeface="Poppins"/>
              </a:rPr>
              <a:t>Full Lifecycle Traceability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2658018" y="7593949"/>
            <a:ext cx="6699560" cy="61258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7" b="1">
                <a:solidFill>
                  <a:srgbClr val="05103F"/>
                </a:solidFill>
                <a:latin typeface="Poppins"/>
              </a:rPr>
              <a:t>Unique claim reference numbers and comprehensive audit trail provide total visibility and compliance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1543" y="1393502"/>
            <a:ext cx="5787940" cy="7032658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12475511" y="3460617"/>
            <a:ext cx="2898310" cy="2898310"/>
          </a:xfrm>
          <a:prstGeom prst="roundRect">
            <a:avLst>
              <a:gd name="adj" fmla="val 50000"/>
            </a:avLst>
          </a:prstGeom>
          <a:solidFill>
            <a:srgbClr val="FFCD91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396355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562789" y="2927023"/>
            <a:ext cx="25159" cy="756005"/>
          </a:xfrm>
          <a:prstGeom prst="rect">
            <a:avLst/>
          </a:prstGeom>
          <a:solidFill>
            <a:srgbClr val="C69945"/>
          </a:solidFill>
        </p:spPr>
        <p:txBody>
          <a:bodyPr/>
          <a:lstStyle/>
          <a:p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264495" y="2927023"/>
            <a:ext cx="25159" cy="756005"/>
          </a:xfrm>
          <a:prstGeom prst="rect">
            <a:avLst/>
          </a:prstGeom>
          <a:solidFill>
            <a:srgbClr val="C69945"/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966200" y="2927023"/>
            <a:ext cx="25159" cy="756005"/>
          </a:xfrm>
          <a:prstGeom prst="rect">
            <a:avLst/>
          </a:prstGeom>
          <a:solidFill>
            <a:srgbClr val="C69945"/>
          </a:solidFill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3667905" y="2927023"/>
            <a:ext cx="25159" cy="756005"/>
          </a:xfrm>
          <a:prstGeom prst="rect">
            <a:avLst/>
          </a:prstGeom>
          <a:solidFill>
            <a:srgbClr val="C69945"/>
          </a:solid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882036" y="1150536"/>
            <a:ext cx="14491784" cy="12096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68" b="1" dirty="0">
                <a:solidFill>
                  <a:srgbClr val="0F174A"/>
                </a:solidFill>
                <a:latin typeface="Poppins"/>
              </a:rPr>
              <a:t>Looking Ahead: The Strategic Roadmap Beyond MVP 1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882036" y="2643583"/>
            <a:ext cx="14491784" cy="534975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82036" y="2927023"/>
            <a:ext cx="14491784" cy="25160"/>
          </a:xfrm>
          <a:prstGeom prst="rect">
            <a:avLst/>
          </a:prstGeom>
          <a:solidFill>
            <a:srgbClr val="C69945"/>
          </a:solidFill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82036" y="2643583"/>
            <a:ext cx="3386674" cy="534975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33994" y="3777710"/>
            <a:ext cx="2882752" cy="42156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133994" y="3777710"/>
            <a:ext cx="2882752" cy="9072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 dirty="0">
                <a:solidFill>
                  <a:srgbClr val="0F174A"/>
                </a:solidFill>
                <a:latin typeface="Poppins"/>
              </a:rPr>
              <a:t>MVP Release 1 (Current)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1133994" y="4968355"/>
            <a:ext cx="2882752" cy="30249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Stabilization of self-service intake portal, deployment of AI image and document extraction, established manual bridge to Libra investigation system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83741" y="2643583"/>
            <a:ext cx="3386674" cy="534975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835699" y="3777710"/>
            <a:ext cx="2882752" cy="30812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835699" y="3777710"/>
            <a:ext cx="2882752" cy="9072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 dirty="0">
                <a:solidFill>
                  <a:srgbClr val="0F174A"/>
                </a:solidFill>
                <a:latin typeface="Poppins"/>
              </a:rPr>
              <a:t>Following Launch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4835699" y="4968355"/>
            <a:ext cx="2882752" cy="18906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Post-production review and tuning of AI extraction models based on real-world document variety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85446" y="2643583"/>
            <a:ext cx="3386674" cy="534975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537405" y="3777710"/>
            <a:ext cx="2882752" cy="338391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537405" y="3777710"/>
            <a:ext cx="2882752" cy="4536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Future Phase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537405" y="4514753"/>
            <a:ext cx="2882752" cy="26468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Libra Integration: evaluation of deep API-level integration with Libra to automate investigation record creation and achieve touchless handoff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987152" y="2643583"/>
            <a:ext cx="3386674" cy="534975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2239110" y="3777710"/>
            <a:ext cx="2882752" cy="383750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2239110" y="3777710"/>
            <a:ext cx="2882752" cy="9072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76" b="1">
                <a:solidFill>
                  <a:srgbClr val="0F174A"/>
                </a:solidFill>
                <a:latin typeface="Poppins"/>
              </a:rPr>
              <a:t>Long-term Vision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2239110" y="4968355"/>
            <a:ext cx="2882752" cy="26468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84" b="1">
                <a:solidFill>
                  <a:srgbClr val="05103F"/>
                </a:solidFill>
                <a:latin typeface="Poppins"/>
              </a:rPr>
              <a:t>Full end-to-end FNOL automation with straight-through processing for simple claims and expanded AI including predictive fraud detection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480869" y="2832523"/>
            <a:ext cx="188998" cy="189000"/>
          </a:xfrm>
          <a:prstGeom prst="roundRect">
            <a:avLst>
              <a:gd name="adj" fmla="val 50000"/>
            </a:avLst>
          </a:prstGeom>
          <a:solidFill>
            <a:srgbClr val="A6781D">
              <a:alpha val="93725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182575" y="2832523"/>
            <a:ext cx="188998" cy="189000"/>
          </a:xfrm>
          <a:prstGeom prst="roundRect">
            <a:avLst>
              <a:gd name="adj" fmla="val 50000"/>
            </a:avLst>
          </a:prstGeom>
          <a:solidFill>
            <a:srgbClr val="A6781D">
              <a:alpha val="93725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9884280" y="2832523"/>
            <a:ext cx="188998" cy="189000"/>
          </a:xfrm>
          <a:prstGeom prst="roundRect">
            <a:avLst>
              <a:gd name="adj" fmla="val 50000"/>
            </a:avLst>
          </a:prstGeom>
          <a:solidFill>
            <a:srgbClr val="A6781D">
              <a:alpha val="93725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3585986" y="2832523"/>
            <a:ext cx="188998" cy="189000"/>
          </a:xfrm>
          <a:prstGeom prst="roundRect">
            <a:avLst>
              <a:gd name="adj" fmla="val 50000"/>
            </a:avLst>
          </a:prstGeom>
          <a:solidFill>
            <a:srgbClr val="A6781D">
              <a:alpha val="93725"/>
            </a:srgbClr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8269" b="826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effectLst>
            <a:blur rad="38100" grow="0"/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276" r="27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31517" b="3151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4134"/>
            </a:avLst>
          </a:prstGeom>
        </p:spPr>
      </p:pic>
      <p:sp>
        <p:nvSpPr>
          <p:cNvPr id="6" name="AutoShape 6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4134"/>
            </a:avLst>
          </a:prstGeom>
          <a:solidFill>
            <a:srgbClr val="FFFF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82036" y="3674276"/>
            <a:ext cx="14491784" cy="7560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61" b="1">
                <a:solidFill>
                  <a:srgbClr val="0F174A"/>
                </a:solidFill>
                <a:latin typeface="Poppins"/>
              </a:rPr>
              <a:t>Thank You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82036" y="4713720"/>
            <a:ext cx="14491784" cy="75600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1620" b="1">
                <a:solidFill>
                  <a:srgbClr val="0F174A"/>
                </a:solidFill>
                <a:latin typeface="Poppins"/>
              </a:rPr>
              <a:t>We invite your questions as we move forward into this new chapter of AI-assisted claims excellence.</a:t>
            </a:r>
            <a:endParaRPr lang="en-US" sz="110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6.1.112.124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965</Words>
  <Application>Microsoft Macintosh PowerPoint</Application>
  <PresentationFormat>Custom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Siddipeta Jayachandra Reddy</cp:lastModifiedBy>
  <cp:revision>2</cp:revision>
  <dcterms:created xsi:type="dcterms:W3CDTF">2006-08-16T00:00:00Z</dcterms:created>
  <dcterms:modified xsi:type="dcterms:W3CDTF">2026-08-04T08:18:05Z</dcterms:modified>
</cp:coreProperties>
</file>