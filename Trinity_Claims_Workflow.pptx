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as the detailed Pega workflow design document for Trinity Military Kit and Personal Possessions Claims processing, covering the hybrid AI-assisted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 of this document. Sections 3 and 4 are the most technically detailed.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intake channels feed into one case type. Email is the only channel where AI runs at intake — for field extraction and summarisation.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all 7 stages. Stages 2 and 3 have active AI touchpoints. The parent case stays open until all child cases close before Stage 7 completes.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AI cases operate in support of human decisions, never replacing them. All AI outputs are written to an AIAudit embedded page on the case for FCA explainability.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1 and 2 set up the case structure. All mandatory fields must be populated before Stage 2 entry gate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the most AI-intensive stage with both image analysis and fraud detection running. Stage 4 is fully human-led, using AI outputs from Stage 3 as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5 is the most legally sensitive. FOS signposting is mandatory on any repudiation. Stage 7 only auto-closes when all child cases are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main data pages on the TRI-MasterClaim case. AIAudit is a list — one entry per AI touchpoint fired. ItemList is also a list, one entry per claimed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child cases inherit PolicyData and ClaimantData from the parent. The parent case Stage 7 waits on all children being resolved before auto-closing.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design decisions are the most important to communicate to the Pega build team. Data privacy and human oversight are non-negotiable given the military context and FCA regulation.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The next step is a detailed Pega build specification for each stage, child case type, and GenAI Connect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61520" cy="2103120"/>
          </a:xfrm>
          <a:prstGeom prst="rect">
            <a:avLst/>
          </a:prstGeom>
          <a:solidFill>
            <a:srgbClr val="0D7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Military Kit Claims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D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Claims Workflow — Hybrid AI-Assisted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· Data Structures · AI Use Cases · Child Cases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45720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the UK Armed Forces · Army · Royal Navy · Royal Marines · RAF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0D7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94360" cy="1280160"/>
          </a:xfrm>
          <a:prstGeom prst="roundRect">
            <a:avLst>
              <a:gd name="adj" fmla="val 12308"/>
            </a:avLst>
          </a:prstGeom>
          <a:solidFill>
            <a:srgbClr val="0D7A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Channels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 · Email · Phone — how each enters Pega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51760"/>
            <a:ext cx="594360" cy="1280160"/>
          </a:xfrm>
          <a:prstGeom prst="roundRect">
            <a:avLst>
              <a:gd name="adj" fmla="val 12308"/>
            </a:avLst>
          </a:prstGeom>
          <a:solidFill>
            <a:srgbClr val="0D7A6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stages of the Master Claim parent case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14800"/>
            <a:ext cx="594360" cy="1280160"/>
          </a:xfrm>
          <a:prstGeom prst="roundRect">
            <a:avLst>
              <a:gd name="adj" fmla="val 12308"/>
            </a:avLst>
          </a:prstGeom>
          <a:solidFill>
            <a:srgbClr val="0D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8912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targeted AI touchpoints with human oversight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188720"/>
            <a:ext cx="594360" cy="1280160"/>
          </a:xfrm>
          <a:prstGeom prst="roundRect">
            <a:avLst>
              <a:gd name="adj" fmla="val 12308"/>
            </a:avLst>
          </a:prstGeom>
          <a:solidFill>
            <a:srgbClr val="0D7A6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630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for each stage and key fields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6517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651760"/>
            <a:ext cx="594360" cy="1280160"/>
          </a:xfrm>
          <a:prstGeom prst="roundRect">
            <a:avLst>
              <a:gd name="adj" fmla="val 12308"/>
            </a:avLst>
          </a:prstGeom>
          <a:solidFill>
            <a:srgbClr val="0D7A6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92608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9516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Case Types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Fraud/SIU · Item Assessment · Dispute · Recovery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1148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114800"/>
            <a:ext cx="594360" cy="1280160"/>
          </a:xfrm>
          <a:prstGeom prst="roundRect">
            <a:avLst>
              <a:gd name="adj" fmla="val 12308"/>
            </a:avLst>
          </a:prstGeom>
          <a:solidFill>
            <a:srgbClr val="0D7A6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38912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9516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Implementation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9516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types, SLAs, validations, and key design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Channels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657600" cy="539496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D7A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Website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self-service 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map directly to Pega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creates case on submit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handler needed at intake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lookup triggered automatically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822960"/>
            <a:ext cx="3657600" cy="539496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8229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9768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TRIclaims@relaltd.com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1874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Bot / Pega listener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651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&amp; extracts fields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reviews AI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 corrects values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49834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AI decision on audit trail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822960"/>
            <a:ext cx="3657600" cy="539496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8229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5B21B6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381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0808 175 4908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1874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creates case live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2651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Constellation UI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3429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entered while on call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4206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lookup by handler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1040" y="49834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quality for complex cases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00800"/>
            <a:ext cx="112471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419088"/>
            <a:ext cx="110642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 converge into a single TRI-MasterClaim case type. AI only activates on the email channel at intake.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— 7 Stages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463040" cy="4206240"/>
          </a:xfrm>
          <a:prstGeom prst="roundRect">
            <a:avLst>
              <a:gd name="adj" fmla="val 5000"/>
            </a:avLst>
          </a:prstGeom>
          <a:solidFill>
            <a:srgbClr val="0D7A6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868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97180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284378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84832" y="868680"/>
            <a:ext cx="1463040" cy="4206240"/>
          </a:xfrm>
          <a:prstGeom prst="roundRect">
            <a:avLst>
              <a:gd name="adj" fmla="val 5000"/>
            </a:avLst>
          </a:prstGeom>
          <a:solidFill>
            <a:srgbClr val="0D7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130552" y="868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914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Coverage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84832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13432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2313432" y="321868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297180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84378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12464" y="868680"/>
            <a:ext cx="1463040" cy="4206240"/>
          </a:xfrm>
          <a:prstGeom prst="roundRect">
            <a:avLst>
              <a:gd name="adj" fmla="val 5000"/>
            </a:avLst>
          </a:prstGeom>
          <a:solidFill>
            <a:srgbClr val="0D7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3758184" y="868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712464" y="914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12464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12464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41064" y="32004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941064" y="321868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75504" y="297180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8656" y="284378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0096" y="868680"/>
            <a:ext cx="1463040" cy="4206240"/>
          </a:xfrm>
          <a:prstGeom prst="roundRect">
            <a:avLst>
              <a:gd name="adj" fmla="val 5000"/>
            </a:avLst>
          </a:prstGeom>
          <a:solidFill>
            <a:srgbClr val="0D7A6B"/>
          </a:solidFill>
          <a:ln/>
        </p:spPr>
      </p:sp>
      <p:sp>
        <p:nvSpPr>
          <p:cNvPr id="30" name="Shape 28"/>
          <p:cNvSpPr/>
          <p:nvPr/>
        </p:nvSpPr>
        <p:spPr>
          <a:xfrm>
            <a:off x="5385816" y="868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340096" y="914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40096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0096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03136" y="297180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284378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67728" y="868680"/>
            <a:ext cx="1463040" cy="4206240"/>
          </a:xfrm>
          <a:prstGeom prst="roundRect">
            <a:avLst>
              <a:gd name="adj" fmla="val 5000"/>
            </a:avLst>
          </a:prstGeom>
          <a:solidFill>
            <a:srgbClr val="0D7A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013448" y="868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967728" y="914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67728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Offer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67728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30768" y="297180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284378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95360" y="868680"/>
            <a:ext cx="1463040" cy="4206240"/>
          </a:xfrm>
          <a:prstGeom prst="roundRect">
            <a:avLst>
              <a:gd name="adj" fmla="val 5000"/>
            </a:avLst>
          </a:prstGeom>
          <a:solidFill>
            <a:srgbClr val="0D7A6B"/>
          </a:solidFill>
          <a:ln/>
        </p:spPr>
      </p:sp>
      <p:sp>
        <p:nvSpPr>
          <p:cNvPr id="44" name="Shape 42"/>
          <p:cNvSpPr/>
          <p:nvPr/>
        </p:nvSpPr>
        <p:spPr>
          <a:xfrm>
            <a:off x="8641080" y="868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595360" y="914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59536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95360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total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058400" y="2971800"/>
            <a:ext cx="16459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31552" y="2843784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222992" y="868680"/>
            <a:ext cx="1463040" cy="4206240"/>
          </a:xfrm>
          <a:prstGeom prst="roundRect">
            <a:avLst>
              <a:gd name="adj" fmla="val 5000"/>
            </a:avLst>
          </a:prstGeom>
          <a:solidFill>
            <a:srgbClr val="64748B"/>
          </a:solidFill>
          <a:ln/>
        </p:spPr>
      </p:sp>
      <p:sp>
        <p:nvSpPr>
          <p:cNvPr id="51" name="Shape 49"/>
          <p:cNvSpPr/>
          <p:nvPr/>
        </p:nvSpPr>
        <p:spPr>
          <a:xfrm>
            <a:off x="10268712" y="868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222992" y="9144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10222992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&amp; NCD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222992" y="2377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2578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8F5F2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5321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Case Type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5669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TRI-MasterClaim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383280" y="52578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/>
        </p:spPr>
      </p:sp>
      <p:sp>
        <p:nvSpPr>
          <p:cNvPr id="59" name="Text 57"/>
          <p:cNvSpPr/>
          <p:nvPr/>
        </p:nvSpPr>
        <p:spPr>
          <a:xfrm>
            <a:off x="3383280" y="5321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Cases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383280" y="5669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· Assessment · Dispute · Recovery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09360" y="52578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DE9FE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5321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SLA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309360" y="5669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 within 24 hours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235440" y="52578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5" name="Text 63"/>
          <p:cNvSpPr/>
          <p:nvPr/>
        </p:nvSpPr>
        <p:spPr>
          <a:xfrm>
            <a:off x="9235440" y="5321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Target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235440" y="5669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(Trinity standard)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Use Cases — Hybrid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623560" cy="2743200"/>
          </a:xfrm>
          <a:prstGeom prst="roundRect">
            <a:avLst>
              <a:gd name="adj" fmla="val 3333"/>
            </a:avLst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60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Intake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325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Reading &amp; Summarisation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" y="1783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Connect (LLM) reads email body, extracts structured fields, generates incident summary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61288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reviews proposed values, corrects if needed, logs override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880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case fields + AI audit entry on ProposedFields page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63640" y="822960"/>
            <a:ext cx="5623560" cy="2743200"/>
          </a:xfrm>
          <a:prstGeom prst="roundRect">
            <a:avLst>
              <a:gd name="adj" fmla="val 3333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601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960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Coverage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00800" y="1325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Coverage Evaluation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00800" y="1783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922008" y="1783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policy document sections + claim details, determines: Covered / Partial / Excluded with clause citation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40080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059168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accepts or overrides with logged reason — never auto-decides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00800" y="2880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04088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CoverageDecision field + AI justification text on case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65760" y="3749040"/>
            <a:ext cx="5623560" cy="274320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Investigation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02920" y="42519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0292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024128" y="4709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analyses uploaded damage photos: item identification, damage description, severity rating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02920" y="5303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61288" y="5303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reviews findings, may request more photos, confirms before Stage 4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02920" y="58064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143000" y="5806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DamageAssessment page: item, description, severity, flags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263640" y="3749040"/>
            <a:ext cx="5623560" cy="274320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8620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95160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Investigation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400800" y="42519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40080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922008" y="4709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risk using claim history, incident coherence, item values, policy age, pattern matching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400800" y="5303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059168" y="5303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decides: Low = proceed / Medium = enhanced review / High = spawn SIU child case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400800" y="58064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7040880" y="5806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FraudScore + contributing factors; may trigger child case creation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Detail — Stage 1 &amp; Stage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623560" cy="640080"/>
          </a:xfrm>
          <a:prstGeom prst="roundRect">
            <a:avLst>
              <a:gd name="adj" fmla="val 11429"/>
            </a:avLst>
          </a:prstGeom>
          <a:solidFill>
            <a:srgbClr val="0D7A6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5623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Claim Intake &amp; Case Creation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24 hrs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440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Policy lookup &amp; verification (auto)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Duplicate claim check (auto)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Incident &amp; loss details capture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Supporting information (service branch, rank, unit)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FNOL acknowledgement sent (auto correspondence)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Case classification &amp; routing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4343400"/>
            <a:ext cx="553212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3708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not found → handler exception queue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detected → handler merges or rejects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email → auto chase sent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822960"/>
            <a:ext cx="5623560" cy="640080"/>
          </a:xfrm>
          <a:prstGeom prst="roundRect">
            <a:avLst>
              <a:gd name="adj" fmla="val 11429"/>
            </a:avLst>
          </a:prstGeom>
          <a:solidFill>
            <a:srgbClr val="0D7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841248"/>
            <a:ext cx="5623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Triage &amp; Coverage 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243584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48 hrs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5440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Loss type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Policy exclusions check (AI-assisted)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Cover level determination (kit / possessions / LTO)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Excess calculation and acknowledgement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AI coverage recommendation → handler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Route to assessment queue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343400"/>
            <a:ext cx="553212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708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policy → refer to underwriter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LTO claim → flag £20k limit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Overseas/deployment → MOD liaison flag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Detail — Stage 3 &amp; Stage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623560" cy="640080"/>
          </a:xfrm>
          <a:prstGeom prst="roundRect">
            <a:avLst>
              <a:gd name="adj" fmla="val 11429"/>
            </a:avLst>
          </a:prstGeom>
          <a:solidFill>
            <a:srgbClr val="0D7A6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5623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Investigation &amp; Evidence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5 working days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440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Document collection (MOD Form 1, police ref, receipts)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Photo upload by claimant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AI image analysis → handler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AI fraud scoring → handler decision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Fraud/SIU child case spawn if high risk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Evidence completeness check before Stage 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4343400"/>
            <a:ext cx="553212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3708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police ref → chase issued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fraud score → SIU child spawned, parent paused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unclear → request re-submission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822960"/>
            <a:ext cx="5623560" cy="640080"/>
          </a:xfrm>
          <a:prstGeom prst="roundRect">
            <a:avLst>
              <a:gd name="adj" fmla="val 11429"/>
            </a:avLst>
          </a:prstGeom>
          <a:solidFill>
            <a:srgbClr val="0D7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841248"/>
            <a:ext cx="5623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Assessment &amp; Valuation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243584"/>
            <a:ext cx="562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10 working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5440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Item-by-item handler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Depreciation applied per policy schedule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Repair vs replace decision (handler)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High-value items → spawn Item Assessment child case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MOD issued kit → MOD pricing applied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Quantum agreed and documented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343400"/>
            <a:ext cx="553212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708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Paths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item → third party assessor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value disputed → hold for further evidence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kit → MOD supply chain route considered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Detail — Stages 5, 6 &amp;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D7A6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412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Decision &amp; Offer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435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post-assessment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Manager final decision: full / partial / repudiate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Settlement offer prepared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Formal offer letter sent to claimant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FOS signposting on repudiation (FCA required)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Dispute/Litigation child if disputed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82296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D7A6B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8412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Settlement &amp; Payment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2435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30 days total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6002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Claimant acceptance received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Payment instruction raised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BACS 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BACS confirmation sent to claimant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Recovery child if third party at fault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82296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8412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— Closure &amp; NCD Update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12435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on child close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16002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All child cases resolved check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NCD recalculation applied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Salvage action if applicable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MI reporting data captured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Case archived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5212080"/>
            <a:ext cx="11521440" cy="1508760"/>
          </a:xfrm>
          <a:prstGeom prst="roundRect">
            <a:avLst>
              <a:gd name="adj" fmla="val 4848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2578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Consumer Duty — Compliance Points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acknowledgement (Stage 1) · FOS signposting on repudiation (Stage 5) · 8-week final response rule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outputs logged with human decision on AIAudit page · Override reason always recorded · Full case archive retained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— Pega Case Data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0D7A6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ClaimantID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ServiceBranch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(string, masked)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ContactEmail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ContactPhone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PreferredContact (enum)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8229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82296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0D7A6B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PolicyNumber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PolicyStatus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InceptionDate (date)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ExpiryDate (date)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KitSumInsured (currency)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PossessionsSumInsured (currency)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ExcessSchedule (embedded)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3880" y="82296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82296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0D7A6B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13716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DateOfLoss (date)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LocationType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LocationCountry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LossType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IsOnDeployment (boolean)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PoliceRefNumber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IncidentNarrative (text)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DeploymentUnit (string, masked)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4048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5B21B6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ItemList (embedded page list)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389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ItemID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(enum: issued/personal/possessions)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ApproxValue (currency)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IsSpecified (boolean)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DamageDescription (text)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AssessedValue (currency)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RepairOrReplace (enum)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384048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384048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AIAudit (embedded page list)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4389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AIUseCase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InputPromptRef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ModelVersion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AIOutput (text)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AIProposedValue (variant)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HandlerDecision (enum: accept/override)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OverrideReason (text)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(datetime)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83880" y="384048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384048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CaseMetadata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4389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CaseID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CreatedChannel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(enum)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AssignedQueue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SLAStartTime (datetime)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AcknowledgementSent (boolean)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CurrentStage (string)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FraudScore (enum)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Case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623560" cy="2834640"/>
          </a:xfrm>
          <a:prstGeom prst="roundRect">
            <a:avLst>
              <a:gd name="adj" fmla="val 258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623560" cy="502920"/>
          </a:xfrm>
          <a:prstGeom prst="roundRect">
            <a:avLst>
              <a:gd name="adj" fmla="val 14545"/>
            </a:avLst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77824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SIU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33502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High fraud score in Stage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pattern review by SIU team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evidence request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 if required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 outcome: proceed / refer / repudiate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93852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FraudScore, RiskFactors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SIUNotes, InterviewDate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SIUOutcome, Referral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822960"/>
            <a:ext cx="5623560" cy="2834640"/>
          </a:xfrm>
          <a:prstGeom prst="roundRect">
            <a:avLst>
              <a:gd name="adj" fmla="val 2581"/>
            </a:avLst>
          </a:prstGeom>
          <a:solidFill>
            <a:srgbClr val="E8F5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822960"/>
            <a:ext cx="5623560" cy="502920"/>
          </a:xfrm>
          <a:prstGeom prst="roundRect">
            <a:avLst>
              <a:gd name="adj" fmla="val 14545"/>
            </a:avLst>
          </a:prstGeom>
          <a:solidFill>
            <a:srgbClr val="0D7A6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877824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Assessment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33502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High-value or specialist item in Stage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938528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assessor assignment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 photographic inspection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quote obtained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value agreed with parent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193852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AssessorID, InspectionDate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RepairQuote, ReplacementCost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AssessedValue, Recommendation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840480"/>
            <a:ext cx="5623560" cy="2834640"/>
          </a:xfrm>
          <a:prstGeom prst="roundRect">
            <a:avLst>
              <a:gd name="adj" fmla="val 2581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40480"/>
            <a:ext cx="5623560" cy="502920"/>
          </a:xfrm>
          <a:prstGeom prst="roundRect">
            <a:avLst>
              <a:gd name="adj" fmla="val 14545"/>
            </a:avLst>
          </a:prstGeom>
          <a:solidFill>
            <a:srgbClr val="5B21B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895344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/ Litigation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4352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Claimant disputes Stage 5 offer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956048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reason captured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handler 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referral if unresolved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expenses up to £75k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4681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495604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DisputeReason, DisputeDate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FOSReference, LegalCost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ResolutionOutcome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3840480"/>
            <a:ext cx="5623560" cy="2834640"/>
          </a:xfrm>
          <a:prstGeom prst="roundRect">
            <a:avLst>
              <a:gd name="adj" fmla="val 2581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3840480"/>
            <a:ext cx="562356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895344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/ Subrogation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4352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Third party fault identified at Stage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956048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identified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liaison if military asset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action initiated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amount reconciled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4681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18320" y="495604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ThirdPartyDetails, FaultBasis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RecoveryAmount, MODRefNo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RecoveryStatus, SettledDate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Implementation — Key Design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749040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32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Architecture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4475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model: TRI-MasterClaim + 4 child types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entry gates with mandatory field pre-conditions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routing via Pega rules (no LLM routing)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cases inherit data via propagation rules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51960" y="822960"/>
            <a:ext cx="3749040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326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932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0" y="144475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Connect rule: Azure OpenAI or Anthropic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rules for email extraction (email channel only)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rules surface AI output in handler screen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outputs written to AIAudit page list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83880" y="822960"/>
            <a:ext cx="3749040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3268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8240" y="932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Data Privacy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321040" y="144475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location, unit, OpSec data masked before LLM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transform runs in every GenAI Connect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Pega model; LLM sees anonymised summary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liaison data handled via secure internal channel only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3794760"/>
            <a:ext cx="3749040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0448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9044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441655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advances a stage autonomously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requires explicit handler accept/override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reason mandatory and audit-logged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threshold: claims &gt;£500 need manager sign-off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251960" y="3794760"/>
            <a:ext cx="3749040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904488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46320" y="39044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 &amp; Escalation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389120" y="441655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Deadline timers at parent and child level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24-hr escalation to supervisor on goal breach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queues: standard / high-value / LTO / SIU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waits on all open children before closing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183880" y="3794760"/>
            <a:ext cx="3749040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904488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78240" y="39044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Compliance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321040" y="441655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24-hr FNOL acknowledgement (auto correspondence)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 signposting on all repudiations (Stage 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final response clock tracked in metadata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audit trail for Consumer Duty explainability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12161520" cy="1920240"/>
          </a:xfrm>
          <a:prstGeom prst="rect">
            <a:avLst/>
          </a:prstGeom>
          <a:solidFill>
            <a:srgbClr val="0D7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26464"/>
            <a:ext cx="10424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stages · 3 intake channels · parent-child Pega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76272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10424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targeted AI use cases — email, coverage, images, fraud — all human-reviewed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80944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35808"/>
            <a:ext cx="10424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 pages on parent case · 4 child case types with independent SLAs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85616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0480"/>
            <a:ext cx="10424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Consumer Duty compliance built into flow · military data privacy enforced at LLM boundary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Trinity Insurance Services · talktotrinity.com · TRIclaims@relaltd.com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for internal design and implementation use only.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Trinity Military Kit Claims — Pega Workflow</dc:title>
  <dc:subject>PptxGenJS Presentation</dc:subject>
  <dc:creator>Trinity Insurance</dc:creator>
  <cp:lastModifiedBy>Trinity Insurance</cp:lastModifiedBy>
  <cp:revision>1</cp:revision>
  <dcterms:created xsi:type="dcterms:W3CDTF">2026-06-11T06:33:54Z</dcterms:created>
  <dcterms:modified xsi:type="dcterms:W3CDTF">2026-06-11T06:33:54Z</dcterms:modified>
</cp:coreProperties>
</file>